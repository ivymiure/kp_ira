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2C0BC-E701-4061-86FC-E96F18B5F60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67AFA-7BB3-49D3-8290-07BA7C054D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350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67AFA-7BB3-49D3-8290-07BA7C054DC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4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E8E3ED-7AEA-3DD6-9A6B-1FA434243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00F1D0-9FFE-C37D-7D5C-AC2F23059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81F3FA-EB06-A8A6-D82A-EDD0A7CE7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1FDD-FFF2-4DF4-AF4B-C9E96A7517E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1CB953-7D75-CA11-7FFD-A7393534C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F5E819-D9EE-DAFA-2408-E2ABEAB8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EBA-B1BA-4EF0-9242-6D32B0AFCC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249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278AD9-40F6-13A3-AF0E-8B65A0698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291F7A-2DB1-8500-3C9A-06AA6129F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490E73-B9FB-47A4-8100-D7F7C7A51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1FDD-FFF2-4DF4-AF4B-C9E96A7517E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084224-4255-2A38-D8C8-F86C67A1A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4F57C4-7065-7740-66F3-61EBC17E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EBA-B1BA-4EF0-9242-6D32B0AFCC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80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8FD782-14B3-2AEA-C8F4-4A3C1E823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E63C03-BC2F-7ED7-7FDD-1E6F531B5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44E218-D3FB-FA3B-5C94-A9E39A4A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1FDD-FFF2-4DF4-AF4B-C9E96A7517E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7E6A3D-71C5-E5C0-BC59-31D9B958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245DA0-BD8A-A940-3816-C61FE0A6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EBA-B1BA-4EF0-9242-6D32B0AFCC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096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AD4BCF-8A1D-4BF9-A6BC-86D0F22D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47A9D6-8A69-AB95-8EFC-6D5201DC7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1277D8-EFA6-978F-438C-188351481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8A2C5A-438F-6470-89DA-67689A8AA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1FDD-FFF2-4DF4-AF4B-C9E96A7517E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340191-5984-3C89-1B0F-9BD4D46BC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998F92-5F3F-F48D-C315-02907A34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EBA-B1BA-4EF0-9242-6D32B0AFCC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327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5CAE09-C8AD-8B74-C43D-87D1DDA77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C8841F-F98E-00F7-7BBB-E2CC8F9A2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F7D30C-520A-4E54-2116-C950A1582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981915-2383-A043-189B-7F87277EB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3EA658-2E2F-4364-8F3E-72F977D7A8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E832F28-30D1-DB8A-AB58-1C05B7880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1FDD-FFF2-4DF4-AF4B-C9E96A7517E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10889A3-AA50-7D44-513A-DFDEEB4DA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C3F90A0-F2A9-AA24-B53B-9CC9D899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EBA-B1BA-4EF0-9242-6D32B0AFCC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462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E03771-CA41-BEDA-DF83-E9599D06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BBE8EE5-CA67-A692-18D6-68D65BFD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1FDD-FFF2-4DF4-AF4B-C9E96A7517E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0AA02B8-835A-B8BF-BD64-66E379A54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1975E2F-6033-98F6-E2E9-946A3A9C2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EBA-B1BA-4EF0-9242-6D32B0AFCC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804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9609DF7-E453-08FA-B4B6-23D73AA1A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1FDD-FFF2-4DF4-AF4B-C9E96A7517E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155B045-FAA9-2EFE-0F1F-6CA8E0B0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75897B-F1D2-42A6-9D24-0F730BFF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EBA-B1BA-4EF0-9242-6D32B0AFCC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828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058003-6533-7766-BDDA-000F5763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648C7-E48A-B75D-4729-F14B0DF9D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4A0C26E-BBFA-5B78-058A-4C6BCF913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C26FA9-EC64-5D01-4D99-98821670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1FDD-FFF2-4DF4-AF4B-C9E96A7517E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86B4DB-5ABA-383A-8A28-DB07DFCE3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ED550D-BA21-23F3-C230-17927EA7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EBA-B1BA-4EF0-9242-6D32B0AFCC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782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B9437-676E-DE18-339D-B053A7FB4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8DD80D-57D2-0376-D756-1007519A6C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CC884DD-F378-5FC8-4C36-B869FD6BA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7A043B-B4CF-7644-5906-58B5320D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1FDD-FFF2-4DF4-AF4B-C9E96A7517E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BEFB35-7AA8-1169-7D15-BD4792B6A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D7319B-C3EF-047B-DD2B-E1A7D2DC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EBA-B1BA-4EF0-9242-6D32B0AFCC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14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D9D6AD-3B02-D6D0-86CD-90F465454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051E5D-78E3-C7A0-14D1-152A97E88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1FECE0-EB1A-5872-D6EE-7E34AA07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1FDD-FFF2-4DF4-AF4B-C9E96A7517E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841903-0183-ECA3-5241-165857F2A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4B95C3-86F6-342C-B2BC-ADA6EBF9D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EBA-B1BA-4EF0-9242-6D32B0AFCC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044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623672-13E6-9C9D-6AFF-6ABC5B5C20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19E827-5152-3A99-1602-6C918BECD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301437-21B6-CA4F-8CDA-C12011258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1FDD-FFF2-4DF4-AF4B-C9E96A7517E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66CE35-2224-F8DA-EB29-A36ACFDC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5F1006-E67D-C6CD-4C9D-AE19C9070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EBA-B1BA-4EF0-9242-6D32B0AFCC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241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185C0-94CD-CBF0-F5A7-851D58FAE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DAA916-F9C7-269B-7A08-FDB5E3783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982703-FB4F-B524-9A26-849A38577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21FDD-FFF2-4DF4-AF4B-C9E96A7517E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CC7726-FDF8-C8A5-B2D2-F1B03AD9C3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CBCE7C-FEBD-FCF8-514F-8FE5D94990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D9EBA-B1BA-4EF0-9242-6D32B0AFCC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46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573CDA8-E805-BC57-4CE0-44C6791D6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0496"/>
            <a:ext cx="9144000" cy="2690931"/>
          </a:xfrm>
        </p:spPr>
        <p:txBody>
          <a:bodyPr>
            <a:noAutofit/>
          </a:bodyPr>
          <a:lstStyle/>
          <a:p>
            <a:r>
              <a:rPr lang="ru-RU" sz="3600" dirty="0"/>
              <a:t>Курсовой проект</a:t>
            </a:r>
            <a:br>
              <a:rPr lang="ru-RU" sz="3600" dirty="0"/>
            </a:br>
            <a:r>
              <a:rPr lang="ru-RU" sz="3600" dirty="0"/>
              <a:t>на тему «Проектирование ИС «Мебельный салон»»</a:t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CB5B690F-DCC5-A5BE-64E9-276F55BB6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8498" y="4601427"/>
            <a:ext cx="4224427" cy="1297765"/>
          </a:xfrm>
        </p:spPr>
        <p:txBody>
          <a:bodyPr>
            <a:normAutofit fontScale="55000" lnSpcReduction="20000"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900" b="0" i="0" u="none" strike="noStrike" kern="1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Выполнила: </a:t>
            </a:r>
            <a:r>
              <a:rPr kumimoji="0" lang="ru-RU" sz="2900" b="0" i="0" u="none" strike="noStrike" kern="1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Махалкина</a:t>
            </a:r>
            <a:r>
              <a:rPr kumimoji="0" lang="ru-RU" sz="2900" b="0" i="0" u="none" strike="noStrike" kern="1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И.С.,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900" b="0" i="0" u="none" strike="noStrike" kern="1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студентка 1 курса очной формы обучения, 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900" b="0" i="0" u="none" strike="noStrike" kern="1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группы </a:t>
            </a:r>
            <a:r>
              <a:rPr kumimoji="0" lang="ru-RU" sz="2900" b="0" i="0" u="none" strike="noStrike" kern="1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ИСиП</a:t>
            </a:r>
            <a:r>
              <a:rPr kumimoji="0" lang="ru-RU" sz="2900" b="0" i="0" u="none" strike="noStrike" kern="1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25-11-1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900" b="0" i="0" u="none" strike="noStrike" kern="1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Проверила: Гончарова Т.В., должность: преподаватель проф. дисциплин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519E28-08F9-46EE-1946-11C3C18B88F7}"/>
              </a:ext>
            </a:extLst>
          </p:cNvPr>
          <p:cNvSpPr txBox="1"/>
          <p:nvPr/>
        </p:nvSpPr>
        <p:spPr>
          <a:xfrm>
            <a:off x="1765180" y="111512"/>
            <a:ext cx="86616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ГОСУДАРСТВЕННОЕ АВТОНОМНОЕ ПРОФЕССИОНАЛЬНОЕ ОБРАЗОВАТЕЛЬНОЕ </a:t>
            </a:r>
          </a:p>
          <a:p>
            <a:pPr algn="ctr"/>
            <a:r>
              <a:rPr lang="ru-RU" sz="2000" dirty="0"/>
              <a:t>УЧРЕЖДЕНИЕ  ТЮМЕНСКОЙ ОБЛАСТИ </a:t>
            </a:r>
          </a:p>
          <a:p>
            <a:pPr algn="ctr"/>
            <a:r>
              <a:rPr lang="ru-RU" sz="2000" dirty="0"/>
              <a:t>«ТЮМЕНСКИЙ ТЕХНИКУМ СТРОИТЕЛЬНОЙ ИНДУСТРИИ И ГОРОДСКОГО ХОЗЯЙСТВА»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8868C-B10C-C2BB-CFEB-97CD463DC94E}"/>
              </a:ext>
            </a:extLst>
          </p:cNvPr>
          <p:cNvSpPr txBox="1"/>
          <p:nvPr/>
        </p:nvSpPr>
        <p:spPr>
          <a:xfrm>
            <a:off x="5156797" y="6140901"/>
            <a:ext cx="1878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г.Тюмень</a:t>
            </a:r>
            <a:r>
              <a:rPr lang="ru-RU" dirty="0"/>
              <a:t>, 2026 г.</a:t>
            </a:r>
          </a:p>
        </p:txBody>
      </p:sp>
    </p:spTree>
    <p:extLst>
      <p:ext uri="{BB962C8B-B14F-4D97-AF65-F5344CB8AC3E}">
        <p14:creationId xmlns:p14="http://schemas.microsoft.com/office/powerpoint/2010/main" val="1439346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20E2C-52F1-79BA-1C1F-26C201D68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/>
              <a:t>ОПИСАНИЕ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4C5A18-BC85-6DD1-3F22-1B6FB1A56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Мебельный салон </a:t>
            </a:r>
            <a:r>
              <a:rPr lang="ru-RU" dirty="0"/>
              <a:t>– это компания, специализирующаяся на продаже мебели для жилых и офисных помещений. Салон функционирует в формате «шоурум и склад», где клиенты могут ознакомиться с образцами продукции, а заказанные позиции отгружаются со склада.</a:t>
            </a:r>
          </a:p>
          <a:p>
            <a:pPr marL="0" indent="0">
              <a:buNone/>
            </a:pPr>
            <a:r>
              <a:rPr lang="ru-RU" b="1" dirty="0"/>
              <a:t>Основные бизнес-процессы:</a:t>
            </a:r>
            <a:endParaRPr lang="ru-RU" dirty="0"/>
          </a:p>
          <a:p>
            <a:r>
              <a:rPr lang="ru-RU" dirty="0"/>
              <a:t> Прием и оформление заказов клиентов (онлайн и офлайн)</a:t>
            </a:r>
          </a:p>
          <a:p>
            <a:r>
              <a:rPr lang="ru-RU" dirty="0"/>
              <a:t> Управление товарными запасами (учет остатков, пополнение склада)</a:t>
            </a:r>
          </a:p>
          <a:p>
            <a:r>
              <a:rPr lang="ru-RU" dirty="0"/>
              <a:t> Взаимодействие с поставщиками (заказ мебели и комплектующих)</a:t>
            </a:r>
          </a:p>
          <a:p>
            <a:r>
              <a:rPr lang="ru-RU" dirty="0"/>
              <a:t> Обработка платежей и формирование документов (чеки, накладные)</a:t>
            </a:r>
          </a:p>
          <a:p>
            <a:r>
              <a:rPr lang="ru-RU" dirty="0"/>
              <a:t> Организация доставки и отслеживание статусов заказов</a:t>
            </a:r>
          </a:p>
          <a:p>
            <a:r>
              <a:rPr lang="ru-RU" dirty="0"/>
              <a:t> Консультирование клиентов по ассортименту и условиям покупки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9232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B7D8A7-696F-708A-1D6E-1D29B5634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/>
              <a:t>ПРОБЛЕМАТИКА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18E391-DAD4-A381-22DF-44252F43D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b="1" dirty="0"/>
              <a:t>Отсутствие единой базы </a:t>
            </a:r>
            <a:r>
              <a:rPr lang="ru-RU" dirty="0"/>
              <a:t>(сложно отследить наличие товара в реальном времени, низкая прозрачность складских остатков, трудный поиск истории заказов по клиентам) 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Ручной ввод данных </a:t>
            </a:r>
            <a:r>
              <a:rPr lang="ru-RU" dirty="0"/>
              <a:t>(ошибки в оформлении заказов, неверные адреса доставки, опечатки в контактных данных клиентов)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Дублирование операций </a:t>
            </a:r>
            <a:r>
              <a:rPr lang="ru-RU" dirty="0"/>
              <a:t>(многократное обновление статусов заказа, ручное резервирование товаров, повторный ввод одних и тех же данных)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 </a:t>
            </a:r>
            <a:r>
              <a:rPr lang="ru-RU" b="1" dirty="0"/>
              <a:t>Нет системы уведомлений </a:t>
            </a:r>
            <a:r>
              <a:rPr lang="ru-RU" dirty="0"/>
              <a:t>(риск пропустить новый заказ, забыть отправить клиенту информацию о статусе доставки, упустить сроки пополнения запасов)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 </a:t>
            </a:r>
            <a:r>
              <a:rPr lang="ru-RU" b="1" dirty="0"/>
              <a:t>Ручное управление запасами </a:t>
            </a:r>
            <a:r>
              <a:rPr lang="ru-RU" dirty="0"/>
              <a:t>(сложно контролировать остатки, оптимизировать закупки, анализировать популярность товаров, отсутствие аналитики по продажам)</a:t>
            </a:r>
          </a:p>
        </p:txBody>
      </p:sp>
    </p:spTree>
    <p:extLst>
      <p:ext uri="{BB962C8B-B14F-4D97-AF65-F5344CB8AC3E}">
        <p14:creationId xmlns:p14="http://schemas.microsoft.com/office/powerpoint/2010/main" val="2736615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1FBBA2-71B3-3645-5FFE-A27C106D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/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716541-0304-BD9E-1B42-9C889EE1E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Цель проекта:</a:t>
            </a:r>
          </a:p>
          <a:p>
            <a:pPr marL="0" indent="0">
              <a:buNone/>
            </a:pPr>
            <a:r>
              <a:rPr lang="ru-RU" dirty="0"/>
              <a:t>Проектирование информационной системы для мебельного салона «NIDO» для автоматизации бизнес-процессов, управления товарными запасами, оптимизации обработки заказов и интеграции с платежными системами</a:t>
            </a:r>
          </a:p>
          <a:p>
            <a:pPr marL="0" indent="0">
              <a:buNone/>
            </a:pPr>
            <a:r>
              <a:rPr lang="ru-RU" b="1" dirty="0"/>
              <a:t>Задачи:</a:t>
            </a:r>
          </a:p>
          <a:p>
            <a:r>
              <a:rPr lang="ru-RU" dirty="0"/>
              <a:t>Провести анализ предметной области и выявить основные бизнес-процессы</a:t>
            </a:r>
          </a:p>
          <a:p>
            <a:r>
              <a:rPr lang="ru-RU" dirty="0"/>
              <a:t>Разработать функциональную модель в нотациях IDEF0 и DFD</a:t>
            </a:r>
          </a:p>
          <a:p>
            <a:r>
              <a:rPr lang="ru-RU" dirty="0"/>
              <a:t>Разработать UML-диаграммы (вариантов использования, деятельности, последовательности, классов)</a:t>
            </a:r>
          </a:p>
          <a:p>
            <a:r>
              <a:rPr lang="ru-RU" dirty="0"/>
              <a:t>Спроектировать базу данных на концептуальном, логическом и физическом уровнях</a:t>
            </a:r>
          </a:p>
          <a:p>
            <a:r>
              <a:rPr lang="ru-RU" dirty="0"/>
              <a:t>Создать эскизный проект пользовательского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3728932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598EFE-4D87-02E4-EBC7-24B5340C1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/>
              <a:t>ОБЪЕКТ И ПРЕДМЕТ ИССЛЕДОВАНИЯ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465866-0400-B9CD-63DD-23F66406EC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ОБЪЕКТ ИССЛЕДОВАНИЯ:</a:t>
            </a:r>
          </a:p>
          <a:p>
            <a:r>
              <a:rPr lang="ru-RU" dirty="0"/>
              <a:t>Бизнес-процессы мебельного салона «NIDO», связанные с приемом и обработкой заказов клиентов, управлением товарными запасами и складскими операциями, взаимодействием с поставщиками, контролем статусов заказов, соблюдением сроков доставки, тарификацией услуг, формированием документов и оперативной отчетностью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5343B9D-837F-3332-04E4-E85E0978A7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ПРЕДМЕТ ИССЛЕДОВАНИЯ:</a:t>
            </a:r>
          </a:p>
          <a:p>
            <a:r>
              <a:rPr lang="ru-RU" dirty="0"/>
              <a:t>Информационная система мебельного салона, методы проектирования реляционной базы данных для учета товаров, клиентов, заказов и поставщиков, алгоритмы автоматизации обработки заказов, динамического управления складскими остатками, контроля выполнения заказов и автоматического информирования клиентов о статусе заказа</a:t>
            </a:r>
          </a:p>
        </p:txBody>
      </p:sp>
    </p:spTree>
    <p:extLst>
      <p:ext uri="{BB962C8B-B14F-4D97-AF65-F5344CB8AC3E}">
        <p14:creationId xmlns:p14="http://schemas.microsoft.com/office/powerpoint/2010/main" val="871591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41411-8581-2E1C-0E90-AB6779321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/>
              <a:t>КОНТЕКСТНАЯ ДИАГРАММА </a:t>
            </a:r>
            <a:r>
              <a:rPr lang="en-US" sz="3600" dirty="0"/>
              <a:t>IDEF0</a:t>
            </a:r>
            <a:r>
              <a:rPr lang="ru-RU" sz="3600" dirty="0"/>
              <a:t> </a:t>
            </a:r>
            <a:br>
              <a:rPr lang="ru-RU" sz="3600" dirty="0"/>
            </a:br>
            <a:r>
              <a:rPr lang="ru-RU" sz="3600" dirty="0"/>
              <a:t>«ПРОДАЖА МЕБЕЛИ»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646E739-5571-94EA-A214-6B51F7306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5" t="19626" r="5588" b="9725"/>
          <a:stretch>
            <a:fillRect/>
          </a:stretch>
        </p:blipFill>
        <p:spPr>
          <a:xfrm>
            <a:off x="2272093" y="2127550"/>
            <a:ext cx="7647814" cy="403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054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AF3ED5-DCC7-1297-BD5D-9E8552976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/>
              <a:t>ДИАГРАММА ДЕКОМПОЗИЦИИ </a:t>
            </a:r>
            <a:r>
              <a:rPr lang="en-US" sz="3600" dirty="0"/>
              <a:t>IDEF0</a:t>
            </a:r>
            <a:r>
              <a:rPr lang="ru-RU" sz="3600" dirty="0"/>
              <a:t> (1 УР.)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26B1E53-212E-6D27-593C-B77BF455C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" t="18966" r="2530" b="9739"/>
          <a:stretch>
            <a:fillRect/>
          </a:stretch>
        </p:blipFill>
        <p:spPr>
          <a:xfrm>
            <a:off x="1833278" y="1854679"/>
            <a:ext cx="8525443" cy="445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09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8259A-00A2-7EFA-0460-4C4CC66D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/>
              <a:t>КОНТЕКСТНАЯ ДИАГРАММА </a:t>
            </a:r>
            <a:r>
              <a:rPr lang="en-US" sz="3600" dirty="0"/>
              <a:t>DFD</a:t>
            </a:r>
            <a:r>
              <a:rPr lang="ru-RU" sz="3600" dirty="0"/>
              <a:t>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86D0A22-C3CA-CC57-987E-C68DF28C34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7" t="20890" r="12622" b="14482"/>
          <a:stretch>
            <a:fillRect/>
          </a:stretch>
        </p:blipFill>
        <p:spPr>
          <a:xfrm>
            <a:off x="2311878" y="2122098"/>
            <a:ext cx="7304403" cy="355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157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E9B54-3963-CCE8-5971-DD333D852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/>
              <a:t>ДЕКОМПОЗИЦИЯ ДИАГРАММЫ </a:t>
            </a:r>
            <a:r>
              <a:rPr lang="en-US" sz="3600" dirty="0"/>
              <a:t>DFD</a:t>
            </a:r>
            <a:r>
              <a:rPr lang="ru-RU" sz="3600" dirty="0"/>
              <a:t> (1 УР.)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A5EDBF6-232E-BCCE-3F28-A49717419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" t="18709" r="1275" b="9984"/>
          <a:stretch>
            <a:fillRect/>
          </a:stretch>
        </p:blipFill>
        <p:spPr>
          <a:xfrm>
            <a:off x="1931943" y="2076060"/>
            <a:ext cx="8328113" cy="419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865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51476-DECB-2A7C-7CD6-BA17159DF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276"/>
            <a:ext cx="10515600" cy="57777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/>
              <a:t>ТЕХ</a:t>
            </a:r>
            <a:r>
              <a:rPr lang="ru-RU" sz="4000" dirty="0"/>
              <a:t>НИЧЕСКО</a:t>
            </a:r>
            <a:r>
              <a:rPr lang="ru-RU" sz="3600" dirty="0"/>
              <a:t>Е ЗАДАНИЕ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DE335007-0BE5-9C3B-C514-9C6E8F0E4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1" y="814749"/>
            <a:ext cx="11430000" cy="1885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/>
              <a:t>Основная цель разработки ИС:</a:t>
            </a:r>
          </a:p>
          <a:p>
            <a:r>
              <a:rPr lang="ru-RU" sz="1800" dirty="0"/>
              <a:t>Создание рабочей среды для управления экспресс-службой доставки с функциями хранения данных об отправителях, получателях и курьерах, автоматизированной обработки заявок на перевозку, планирования маршрутов, контроля статусов и соблюдения временных нормативов (SLA), генерации транспортных документов и контроля выполнения заказов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35FFE50C-2406-F080-7D5D-7D2AFC89F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01" y="2529033"/>
            <a:ext cx="5181600" cy="32577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dirty="0"/>
              <a:t>Функциональные требования</a:t>
            </a:r>
            <a:r>
              <a:rPr lang="ru-RU" sz="1600" dirty="0"/>
              <a:t>:</a:t>
            </a:r>
          </a:p>
          <a:p>
            <a:r>
              <a:rPr lang="ru-RU" sz="1600" dirty="0"/>
              <a:t>Авторизация и ролевая модель доступа</a:t>
            </a:r>
          </a:p>
          <a:p>
            <a:r>
              <a:rPr lang="ru-RU" sz="1600" dirty="0"/>
              <a:t>Загрузка и автоматическая оптимизация фото/документов на отправку с возможностью просмотра в высоком разрешении</a:t>
            </a:r>
          </a:p>
          <a:p>
            <a:r>
              <a:rPr lang="ru-RU" sz="1600" dirty="0"/>
              <a:t>Управление заявками с фильтрами по срочности, габаритам, весу, статусу, зоне обслуживания </a:t>
            </a:r>
          </a:p>
          <a:p>
            <a:r>
              <a:rPr lang="ru-RU" sz="1600" dirty="0"/>
              <a:t>Оформление заказа с автоматическим расчетом тарифа, выбором типа доставки и дополнительных услуг</a:t>
            </a:r>
          </a:p>
          <a:p>
            <a:r>
              <a:rPr lang="ru-RU" sz="1600" dirty="0"/>
              <a:t>Интеграция с платежными системами</a:t>
            </a:r>
          </a:p>
          <a:p>
            <a:r>
              <a:rPr lang="ru-RU" sz="1600" dirty="0"/>
              <a:t>Системное логирование действий и </a:t>
            </a:r>
            <a:r>
              <a:rPr lang="ru-RU" sz="1600" dirty="0" err="1"/>
              <a:t>push</a:t>
            </a:r>
            <a:r>
              <a:rPr lang="ru-RU" sz="1600" dirty="0"/>
              <a:t>/</a:t>
            </a:r>
            <a:r>
              <a:rPr lang="ru-RU" sz="1600" dirty="0" err="1"/>
              <a:t>email</a:t>
            </a:r>
            <a:r>
              <a:rPr lang="ru-RU" sz="1600" dirty="0"/>
              <a:t>/SMS-уведомления о статусе доставки и нарушениях сроков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BC18D4-E67C-F2DA-1AB5-EBCDDEE68991}"/>
              </a:ext>
            </a:extLst>
          </p:cNvPr>
          <p:cNvSpPr txBox="1"/>
          <p:nvPr/>
        </p:nvSpPr>
        <p:spPr>
          <a:xfrm>
            <a:off x="6019801" y="2529033"/>
            <a:ext cx="609456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Этапы разработки:</a:t>
            </a:r>
          </a:p>
          <a:p>
            <a:r>
              <a:rPr lang="ru-RU" sz="1600" b="1" dirty="0"/>
              <a:t>• </a:t>
            </a:r>
            <a:r>
              <a:rPr lang="ru-RU" sz="1600" dirty="0"/>
              <a:t>Анализ требований и согласование архитектуры</a:t>
            </a:r>
          </a:p>
          <a:p>
            <a:r>
              <a:rPr lang="ru-RU" sz="1600" dirty="0"/>
              <a:t>• Разработка БД и UI (включая мобильный интерфейс для     курьеров)</a:t>
            </a:r>
          </a:p>
          <a:p>
            <a:r>
              <a:rPr lang="ru-RU" sz="1600" dirty="0"/>
              <a:t>• Программная реализация серверной и клиентской частей</a:t>
            </a:r>
          </a:p>
          <a:p>
            <a:r>
              <a:rPr lang="ru-RU" sz="1600" dirty="0"/>
              <a:t>• Настройка модулей управления </a:t>
            </a:r>
            <a:r>
              <a:rPr lang="ru-RU" sz="1600" dirty="0" err="1"/>
              <a:t>заяками</a:t>
            </a:r>
            <a:r>
              <a:rPr lang="ru-RU" sz="1600" dirty="0"/>
              <a:t>, маршрутизацией и внешней интеграции</a:t>
            </a:r>
          </a:p>
          <a:p>
            <a:r>
              <a:rPr lang="ru-RU" sz="1600" dirty="0"/>
              <a:t>• Разработка документации и эксплуатация</a:t>
            </a:r>
          </a:p>
        </p:txBody>
      </p:sp>
    </p:spTree>
    <p:extLst>
      <p:ext uri="{BB962C8B-B14F-4D97-AF65-F5344CB8AC3E}">
        <p14:creationId xmlns:p14="http://schemas.microsoft.com/office/powerpoint/2010/main" val="1924193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EF701B43-BDB0-3D70-323F-B4C6CA1F0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1418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UML</a:t>
            </a:r>
            <a:r>
              <a:rPr lang="ru-RU" sz="3600" dirty="0"/>
              <a:t> ДИАГРАММА ВАРИАНТОВ ИСПОЛЬЗОВАНИЯ 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FF75A87E-A000-F421-7BE2-35307A1737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467" y="1230402"/>
            <a:ext cx="6791066" cy="526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694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A9BA9C-FE49-8886-E575-177BFC861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80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UML</a:t>
            </a:r>
            <a:r>
              <a:rPr lang="ru-RU" sz="3600" dirty="0"/>
              <a:t> ДИАГРАММА ДЕЯТЕЛЬНОСТИ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57A99FC-0DDE-6F4B-EF65-84328F194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" b="52671"/>
          <a:stretch>
            <a:fillRect/>
          </a:stretch>
        </p:blipFill>
        <p:spPr>
          <a:xfrm>
            <a:off x="1187848" y="1502279"/>
            <a:ext cx="4908152" cy="470873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B06E977-1577-1B44-ABC9-F114738CC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86"/>
          <a:stretch>
            <a:fillRect/>
          </a:stretch>
        </p:blipFill>
        <p:spPr>
          <a:xfrm>
            <a:off x="6280377" y="1502280"/>
            <a:ext cx="4280738" cy="470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841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2D6AEB-CACF-240E-C001-297CCADEF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UML </a:t>
            </a:r>
            <a:r>
              <a:rPr lang="ru-RU" sz="3600" dirty="0"/>
              <a:t>ДИАГРАММА ПОСЛЕДОВАТЕЛЬНОСТИ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A0B0B24-0C06-CA14-DA0D-755EDF3E4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61"/>
          <a:stretch>
            <a:fillRect/>
          </a:stretch>
        </p:blipFill>
        <p:spPr>
          <a:xfrm>
            <a:off x="6562182" y="1880557"/>
            <a:ext cx="5145301" cy="40371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87347AC-CDBB-2B64-2DFD-0F7712DA1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37"/>
          <a:stretch>
            <a:fillRect/>
          </a:stretch>
        </p:blipFill>
        <p:spPr>
          <a:xfrm>
            <a:off x="484517" y="1880557"/>
            <a:ext cx="5945054" cy="403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985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A879E-CB2D-FE5D-844D-EDCCF4249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8091"/>
            <a:ext cx="10515600" cy="55790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/>
              <a:t>UML</a:t>
            </a:r>
            <a:r>
              <a:rPr lang="ru-RU" sz="3600"/>
              <a:t> ДИАГРАММА КЛАССОВ </a:t>
            </a:r>
            <a:endParaRPr lang="ru-RU" sz="36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2D71713-F733-C8E3-CEA8-0727593543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364" y="827957"/>
            <a:ext cx="6751271" cy="566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77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B697C-C587-FE62-A145-C82053CA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792"/>
          </a:xfrm>
        </p:spPr>
        <p:txBody>
          <a:bodyPr>
            <a:normAutofit/>
          </a:bodyPr>
          <a:lstStyle/>
          <a:p>
            <a:pPr algn="ctr"/>
            <a:r>
              <a:rPr lang="ru-RU" sz="3600" dirty="0"/>
              <a:t>КОНЦЕПТУАЛЬНАЯ МОДЕЛЬ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FB0D5EC-84A4-BA58-B12C-C24009C4FE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160" y="1172832"/>
            <a:ext cx="7655680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327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01F9B-313D-977F-7898-73D4740A4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7464"/>
          </a:xfrm>
        </p:spPr>
        <p:txBody>
          <a:bodyPr>
            <a:normAutofit/>
          </a:bodyPr>
          <a:lstStyle/>
          <a:p>
            <a:pPr algn="ctr"/>
            <a:r>
              <a:rPr lang="ru-RU" sz="3600" dirty="0"/>
              <a:t>ЛОГИЧЕСКАЯ МОДЕЛЬ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02F92F3-1A40-71BE-7F0E-3125B49DE5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270" y="1532326"/>
            <a:ext cx="8661459" cy="452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180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57EC0D-D450-B8DB-5A85-1522F4936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705"/>
          </a:xfrm>
        </p:spPr>
        <p:txBody>
          <a:bodyPr>
            <a:normAutofit/>
          </a:bodyPr>
          <a:lstStyle/>
          <a:p>
            <a:pPr algn="ctr"/>
            <a:r>
              <a:rPr lang="ru-RU" sz="3600" dirty="0"/>
              <a:t>ФИЗИЧЕСКАЯ МОДЕЛЬ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30302FF-D738-6BC6-6D13-8E01DCCC0C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624" y="1316665"/>
            <a:ext cx="7428751" cy="488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6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7D592-49DE-CD61-2FA2-60E4010AC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/>
              <a:t>АНАЛИТИЧЕСКИЕ ЗАПРОСЫ К БАЗЕ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A292BB4-C9E6-BEEF-BB1D-4FC7D5A00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79" y="2028372"/>
            <a:ext cx="7535327" cy="11336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4D6892-CD17-D138-94C9-4CC81D2FA475}"/>
              </a:ext>
            </a:extLst>
          </p:cNvPr>
          <p:cNvSpPr txBox="1"/>
          <p:nvPr/>
        </p:nvSpPr>
        <p:spPr>
          <a:xfrm>
            <a:off x="611679" y="156931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Запрос информации о всех клиентах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B4D3C05-E16A-0810-6028-96D1820E0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79" y="3943953"/>
            <a:ext cx="8707065" cy="5430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B39410-7963-73C4-0946-B04BFF294BF1}"/>
              </a:ext>
            </a:extLst>
          </p:cNvPr>
          <p:cNvSpPr txBox="1"/>
          <p:nvPr/>
        </p:nvSpPr>
        <p:spPr>
          <a:xfrm>
            <a:off x="611679" y="3511330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Запрос полной информации о конкретном заказе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BDA8E8-8BB0-256E-9DAB-E7032B32B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79" y="5198960"/>
            <a:ext cx="4544059" cy="8383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6DB68C2-2DD7-1953-8E98-AEC8A49424B3}"/>
              </a:ext>
            </a:extLst>
          </p:cNvPr>
          <p:cNvSpPr txBox="1"/>
          <p:nvPr/>
        </p:nvSpPr>
        <p:spPr>
          <a:xfrm>
            <a:off x="611679" y="476924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Запрос для отчета по продажам за период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7809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B1A612-5819-24B7-548D-28A4B69EB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/>
              <a:t>АНАЛИТИЧЕСКИЕ ЗАПРОСЫ К БАЗЕ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B5F22ED-5148-1DDE-F519-CCD730CA0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56450"/>
            <a:ext cx="9154803" cy="7049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205FD1-E6F1-1367-5622-915522DC399D}"/>
              </a:ext>
            </a:extLst>
          </p:cNvPr>
          <p:cNvSpPr txBox="1"/>
          <p:nvPr/>
        </p:nvSpPr>
        <p:spPr>
          <a:xfrm>
            <a:off x="838200" y="1690688"/>
            <a:ext cx="6614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Запрос для формирования каталога доступных товаров на сайте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BCCA491-179A-EFCA-75BA-0277BA49E2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92" y="4183407"/>
            <a:ext cx="6620799" cy="6477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98BB14-C1BF-2FAC-4F11-90AB3CE6D57F}"/>
              </a:ext>
            </a:extLst>
          </p:cNvPr>
          <p:cNvSpPr txBox="1"/>
          <p:nvPr/>
        </p:nvSpPr>
        <p:spPr>
          <a:xfrm>
            <a:off x="758392" y="3717645"/>
            <a:ext cx="7100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Запрос определяет, какой поставщик предоставляет конкретный товар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441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31768E-1B44-97C8-CC89-34C38FCD9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/>
              <a:t>ПОЛЬЗОВАТЕЛЬСКИЙ ИНТЕРФЕЙС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361E810-8B9D-0569-3647-E2A6552ED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833068"/>
            <a:ext cx="5100564" cy="31918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BCDFCB-9838-E185-137A-0537231DF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236" y="1833068"/>
            <a:ext cx="5100564" cy="319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722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0B1F-5A53-6F01-3227-5AEEC93F4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96E63-2887-E05B-828A-4AA079A0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/>
              <a:t>ПОЛЬЗОВАТЕЛЬСКИЙ ИНТЕРФЕЙС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C68477E-57A0-2753-0268-B66410FF2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1" y="1833068"/>
            <a:ext cx="5100564" cy="31918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546E38-9CFD-3532-D52A-5A2026E0B8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3236" y="1836026"/>
            <a:ext cx="5100564" cy="31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7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71A1BB-C437-973F-37BC-2E27147A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A2F110-7BED-1445-5122-64D08F2B8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172"/>
            <a:ext cx="10515600" cy="471319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/>
              <a:t>В ходе выполнения курсового проекта было осуществлено полное проектирование информационной системы для мебельного салона «NIDO». Работа над проектом включала все необходимые этапы: от анализа предметной области до разработки эскизного проекта пользовательского интерфейса.</a:t>
            </a:r>
          </a:p>
          <a:p>
            <a:pPr marL="0" indent="0" algn="just"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В процессе работы были: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Проведен анализ предметной области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Разработаны функциональные модели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Построены </a:t>
            </a:r>
            <a:r>
              <a:rPr lang="en-US" sz="2000" dirty="0"/>
              <a:t>UML-</a:t>
            </a:r>
            <a:r>
              <a:rPr lang="ru-RU" sz="2000" dirty="0"/>
              <a:t>диаграммы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Спроектирована база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Разработан пользовательский интерфейс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ru-RU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/>
              <a:t>Разработанная система позволяет повысить удобство пользователей, сократить количество ошибок и улучшить качество обслуживания.</a:t>
            </a:r>
          </a:p>
        </p:txBody>
      </p:sp>
    </p:spTree>
    <p:extLst>
      <p:ext uri="{BB962C8B-B14F-4D97-AF65-F5344CB8AC3E}">
        <p14:creationId xmlns:p14="http://schemas.microsoft.com/office/powerpoint/2010/main" val="19751376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36</TotalTime>
  <Words>777</Words>
  <Application>Microsoft Office PowerPoint</Application>
  <PresentationFormat>Широкоэкранный</PresentationFormat>
  <Paragraphs>86</Paragraphs>
  <Slides>22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Тема Office</vt:lpstr>
      <vt:lpstr>Курсовой проект на тему «Проектирование ИС «Мебельный салон»» </vt:lpstr>
      <vt:lpstr>ОПИСАНИЕ ПРЕДМЕТНОЙ ОБЛАСТИ</vt:lpstr>
      <vt:lpstr>ПРОБЛЕМАТИКА</vt:lpstr>
      <vt:lpstr>ЦЕЛИ И ЗАДАЧИ</vt:lpstr>
      <vt:lpstr>ОБЪЕКТ И ПРЕДМЕТ ИССЛЕДОВАНИЯ</vt:lpstr>
      <vt:lpstr>КОНТЕКСТНАЯ ДИАГРАММА IDEF0  «ПРОДАЖА МЕБЕЛИ»</vt:lpstr>
      <vt:lpstr>ДИАГРАММА ДЕКОМПОЗИЦИИ IDEF0 (1 УР.)</vt:lpstr>
      <vt:lpstr>КОНТЕКСТНАЯ ДИАГРАММА DFD </vt:lpstr>
      <vt:lpstr>ДЕКОМПОЗИЦИЯ ДИАГРАММЫ DFD (1 УР.)</vt:lpstr>
      <vt:lpstr>ТЕХНИЧЕСКОЕ ЗАДАНИЕ</vt:lpstr>
      <vt:lpstr>UML ДИАГРАММА ВАРИАНТОВ ИСПОЛЬЗОВАНИЯ </vt:lpstr>
      <vt:lpstr>UML ДИАГРАММА ДЕЯТЕЛЬНОСТИ </vt:lpstr>
      <vt:lpstr>UML ДИАГРАММА ПОСЛЕДОВАТЕЛЬНОСТИ</vt:lpstr>
      <vt:lpstr>UML ДИАГРАММА КЛАССОВ </vt:lpstr>
      <vt:lpstr>КОНЦЕПТУАЛЬНАЯ МОДЕЛЬ ДАННЫХ</vt:lpstr>
      <vt:lpstr>ЛОГИЧЕСКАЯ МОДЕЛЬ ДАННЫХ</vt:lpstr>
      <vt:lpstr>ФИЗИЧЕСКАЯ МОДЕЛЬ ДАННЫХ</vt:lpstr>
      <vt:lpstr>АНАЛИТИЧЕСКИЕ ЗАПРОСЫ К БАЗЕ ДАННЫХ</vt:lpstr>
      <vt:lpstr>АНАЛИТИЧЕСКИЕ ЗАПРОСЫ К БАЗЕ ДАННЫХ</vt:lpstr>
      <vt:lpstr>ПОЛЬЗОВАТЕЛЬСКИЙ ИНТЕРФЕЙС</vt:lpstr>
      <vt:lpstr>ПОЛЬЗОВАТЕЛЬСКИЙ ИНТЕРФЕЙС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Ira Makhalkina</dc:creator>
  <cp:lastModifiedBy>Ira Makhalkina</cp:lastModifiedBy>
  <cp:revision>1</cp:revision>
  <dcterms:created xsi:type="dcterms:W3CDTF">2026-05-13T21:58:20Z</dcterms:created>
  <dcterms:modified xsi:type="dcterms:W3CDTF">2026-05-13T22:35:01Z</dcterms:modified>
</cp:coreProperties>
</file>